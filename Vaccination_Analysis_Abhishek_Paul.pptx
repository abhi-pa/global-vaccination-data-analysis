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Arial"/>
              </a:rPr>
              <a:t>Model comparison (R² score)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 Regression</c:v>
                  </c:pt>
                  <c:pt idx="1">
                    <c:v>Random Forest (tuned)</c:v>
                  </c:pt>
                  <c:pt idx="2">
                    <c:v>Gradient Boosting (tuned)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0.31</c:v>
                </c:pt>
                <c:pt idx="1">
                  <c:v>0.46</c:v>
                </c:pt>
                <c:pt idx="2">
                  <c:v>0.49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88952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Vaccination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coverage, disease incidence, and vaccine effectiveness — a WHO immunization data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Abhishek Paul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SQL Database · Power BI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44 years of WHO immunization data across 190+ countries, linking vaccination coverage to disease incidence, to answer a core public-health question: is vaccination working, and where isn't it?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54203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4231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WHO datasets cleaned and merged into a disease-matched analytical table (74,797 records)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9808" y="34107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329184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EDA visualizations built following the UBM framework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" y="427939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41605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hypotheses tested — all statistically significant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9808" y="514807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50292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regression models compared, tuned, and evaluated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2286000"/>
            <a:ext cx="553212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1928" y="254203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64808" y="2423160"/>
            <a:ext cx="4937760" cy="1158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SQL database (5 dimension + 5 fact tables) built in SQLite with 7 analytical queries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81928" y="370027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64808" y="3581400"/>
            <a:ext cx="4937760" cy="1158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interactive Power BI dashboard (Global Overview, Regional Comparison, Vaccine Schedule, Country Deep-Dive)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81928" y="485851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64808" y="4739640"/>
            <a:ext cx="4937760" cy="1158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finding: AFRO shows the lowest coverage and highest incidence of any WHO region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Data Analysis  |  Abhishek Paul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global vaccination data to understand trends in coverage, disease incidence, and vaccine effectiveness — to support public health strategy, resource allocation, and policy decisions.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54203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423160"/>
            <a:ext cx="10469880" cy="563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vaccination rates correlate with a decrease in disease incidence?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49808" y="31059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2987040"/>
            <a:ext cx="10469880" cy="563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have high disease incidence despite reasonable coverage?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49808" y="366979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550920"/>
            <a:ext cx="10469880" cy="563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significant disparities in incidence across WHO regions?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9808" y="423367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4114800"/>
            <a:ext cx="10469880" cy="563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percentage of the target population has been covered, by disease?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49808" y="479755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4678680"/>
            <a:ext cx="10469880" cy="563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diseases show the biggest case reduction relative to coverage?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49808" y="536143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5242560"/>
            <a:ext cx="10469880" cy="563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disease incidence be predicted from coverage and related features?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Data Analysis  |  Abhishek Paul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WHO immunization datasets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82296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399,859 rows · 1980-2023 · 214 countries · 69 vaccines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31720"/>
            <a:ext cx="82296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23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Incidence rate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84,946 rows · 13 vaccine-preventable diseases tracked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291840"/>
            <a:ext cx="82296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83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cases 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703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84,870 rows · raw case counts per disease/country/year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51960"/>
            <a:ext cx="82296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343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introduction data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663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138,321 rows · national rollout status by vaccine/year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212080"/>
            <a:ext cx="82296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303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schedule data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5623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8,053 rows · dose schedules, rounds, target populations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Data Analysis  |  Abhishek Paul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645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0" y="21488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wrangling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80760" y="15544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645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17920" y="21488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(15+ charts)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823960" y="15544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645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961120" y="21488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2461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337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38404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337560" y="32461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3337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74720" y="38404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tuning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080760" y="32461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3337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17920" y="38404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+ Power BI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823960" y="32461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0" y="3337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961120" y="38404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conclusions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Data Analysis  |  Abhishek Paul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wrangling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five raw WHO tables became one disease-matched analytical dataset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4767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828800"/>
            <a:ext cx="4754880" cy="135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coverage data to country-level rows only, excluding regional/global aggregates that would double-count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9808" y="330403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3185160"/>
            <a:ext cx="4754880" cy="135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keys across tables (ISO_3_CODE/COUNTRYNAME renamed to CODE/NAME) so all 5 datasets could join cleanly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" y="466039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4541520"/>
            <a:ext cx="4754880" cy="135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incidence + reported cases on their shared grain (country, year, disease)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691640"/>
            <a:ext cx="55321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1928" y="194767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64808" y="1828800"/>
            <a:ext cx="4937760" cy="10172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vaccine-to-disease mapping (e.g. MCV1/MCV2 → Measles, POL3/IPV → Poliomyelitis) to match coverage to the disease it actually targets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81928" y="296494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64808" y="2846070"/>
            <a:ext cx="4937760" cy="10172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Avoided a naive full join across all tables, which would have fanned out to millions of meaningless rows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81928" y="398221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64808" y="3863340"/>
            <a:ext cx="4937760" cy="10172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WHO Region via a country lookup, since coverage/incidence tables don't carry region directly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81928" y="499948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64808" y="4880610"/>
            <a:ext cx="4937760" cy="10172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74,797-row analytical table at country-disease-year grain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Data Analysis  |  Abhishek Paul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charts built following the Univariate → Bivariate → Multivariate (UBM) framework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average coverage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~85-90%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steadily from ~20-30% in the 1980s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69164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874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AFRO region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11880" y="22860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Lowest coverage,</a:t>
            </a:r>
            <a:endParaRPr lang="en-US" sz="2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 incidence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clearest regional finding in the project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874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Measles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22860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 average</a:t>
            </a:r>
            <a:endParaRPr lang="en-US" sz="2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incidence (535.6)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92240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reasonably good global coverage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89720" y="169164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1874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72600" y="22860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1980 – 2023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372600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years across 190+ countries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chart-by-chart breakdown on the following pages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Data Analysis  |  Abhishek Paul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distributions &amp; core relationship</a:t>
            </a:r>
            <a:endParaRPr lang="en-US" sz="2500" dirty="0"/>
          </a:p>
        </p:txBody>
      </p:sp>
      <p:pic>
        <p:nvPicPr>
          <p:cNvPr id="4" name="Image 0" descr="chart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657600" cy="2304288"/>
          </a:xfrm>
          <a:prstGeom prst="rect">
            <a:avLst/>
          </a:prstGeom>
        </p:spPr>
      </p:pic>
      <p:pic>
        <p:nvPicPr>
          <p:cNvPr id="5" name="Image 1" descr="chart_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188720"/>
            <a:ext cx="3657600" cy="2304288"/>
          </a:xfrm>
          <a:prstGeom prst="rect">
            <a:avLst/>
          </a:prstGeom>
        </p:spPr>
      </p:pic>
      <p:pic>
        <p:nvPicPr>
          <p:cNvPr id="6" name="Image 2" descr="chart_0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188720"/>
            <a:ext cx="3657600" cy="232257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48640" y="36576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skews left toward 80-100%; incidence is right-skewed with a long outbreak tail; the scatter shows the core coverage-incidence relationship the whole project builds on.</a:t>
            </a:r>
            <a:endParaRPr lang="en-US" sz="1250" dirty="0"/>
          </a:p>
        </p:txBody>
      </p:sp>
      <p:sp>
        <p:nvSpPr>
          <p:cNvPr id="8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Data Analysis  |  Abhishek Paul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trends over time</a:t>
            </a:r>
            <a:endParaRPr lang="en-US" sz="2500" dirty="0"/>
          </a:p>
        </p:txBody>
      </p:sp>
      <p:pic>
        <p:nvPicPr>
          <p:cNvPr id="4" name="Image 0" descr="chart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394960" cy="2944368"/>
          </a:xfrm>
          <a:prstGeom prst="rect">
            <a:avLst/>
          </a:prstGeom>
        </p:spPr>
      </p:pic>
      <p:pic>
        <p:nvPicPr>
          <p:cNvPr id="5" name="Image 1" descr="chart_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188720"/>
            <a:ext cx="5394960" cy="2944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2519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incidence has fallen while average coverage has risen over the same 44-year window — the clearest global trend evidence for vaccination's impact.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Data Analysis  |  Abhishek Paul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regional patterns &amp; correlation</a:t>
            </a:r>
            <a:endParaRPr lang="en-US" sz="2500" dirty="0"/>
          </a:p>
        </p:txBody>
      </p:sp>
      <p:pic>
        <p:nvPicPr>
          <p:cNvPr id="4" name="Image 0" descr="chart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657600" cy="2331720"/>
          </a:xfrm>
          <a:prstGeom prst="rect">
            <a:avLst/>
          </a:prstGeom>
        </p:spPr>
      </p:pic>
      <p:pic>
        <p:nvPicPr>
          <p:cNvPr id="5" name="Image 1" descr="chart_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188720"/>
            <a:ext cx="3657600" cy="2331720"/>
          </a:xfrm>
          <a:prstGeom prst="rect">
            <a:avLst/>
          </a:prstGeom>
        </p:spPr>
      </p:pic>
      <p:pic>
        <p:nvPicPr>
          <p:cNvPr id="6" name="Image 2" descr="chart_1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188720"/>
            <a:ext cx="3246120" cy="2743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48640" y="4114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with higher incidence (AFRO, SEARO) also show lower, more variable coverage. The correlation heatmap confirms coverage's negative relationship with incidence and cases.</a:t>
            </a:r>
            <a:endParaRPr lang="en-US" sz="1250" dirty="0"/>
          </a:p>
        </p:txBody>
      </p:sp>
      <p:sp>
        <p:nvSpPr>
          <p:cNvPr id="8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Data Analysis  |  Abhishek Paul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5F7F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162763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coverage is associated with lower incidence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0" y="2148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— statistically significant negative relationship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784080" y="18745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1F5EE"/>
          </a:solidFill>
          <a:ln/>
        </p:spPr>
      </p:sp>
      <p:sp>
        <p:nvSpPr>
          <p:cNvPr id="10" name="Text 8"/>
          <p:cNvSpPr/>
          <p:nvPr/>
        </p:nvSpPr>
        <p:spPr>
          <a:xfrm>
            <a:off x="9784080" y="1874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5F7F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2461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46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31363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Incidence differs significantly across WHO regions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2880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 — statistically significant difference confirmed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784080" y="33832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1F5EE"/>
          </a:solidFill>
          <a:ln/>
        </p:spPr>
      </p:sp>
      <p:sp>
        <p:nvSpPr>
          <p:cNvPr id="17" name="Text 15"/>
          <p:cNvSpPr/>
          <p:nvPr/>
        </p:nvSpPr>
        <p:spPr>
          <a:xfrm>
            <a:off x="9784080" y="3383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5F7F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7548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754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28800" y="464515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differs significantly across disease types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828800" y="5166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 — statistically significant difference confirmed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784080" y="48920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1F5EE"/>
          </a:solidFill>
          <a:ln/>
        </p:spPr>
      </p:sp>
      <p:sp>
        <p:nvSpPr>
          <p:cNvPr id="24" name="Text 22"/>
          <p:cNvSpPr/>
          <p:nvPr/>
        </p:nvSpPr>
        <p:spPr>
          <a:xfrm>
            <a:off x="9784080" y="4892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Data Analysis  |  Abhishek Paul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pre-processing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2763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5087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disease-specific median imputation for coverage (not a global median, since baseline coverage varies hugely by disease)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9808" y="309067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97180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Outliers: extreme incidence values capped at the 99th percentile rather than removed — outbreak years are real signal, not noise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" y="45537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44348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Encoding: one-hot encoding for disease (13 categories) and WHO region (6 categories) — nominal, no inherent order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371600"/>
            <a:ext cx="55321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1928" y="162763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64808" y="15087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StandardScaler applied to coverage and year, since Linear Regression is scale-sensitive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81928" y="272491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64808" y="26060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dimensionality reduction needed — ~20 features, each individually interpretable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81928" y="382219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64808" y="37033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 — large enough test set (~14,000 rows) for stable evaluation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81928" y="491947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08" y="48006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Imbalance: not applicable — this is a regression task, not classification, so skew was handled via outlier capping instead of resampling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Data Analysis  |  Abhishek Paul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disease incidence rate from vaccination coverage, year, disease, and WHO region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645920"/>
            <a:ext cx="42062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35240" y="1828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Gradient Boosting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80960" y="247802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7909560" y="23500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0.49 — explains roughly half the variance in incidence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680960" y="313639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7909560" y="300837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≈ 219 — average prediction error in incidence units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80960" y="379476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7909560" y="366674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average coverage, then year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680960" y="445312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7909560" y="432511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via RandomizedSearchCV, 2-fold CV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680960" y="5111496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7909560" y="49834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with joblib, reload-tested with a sanity prediction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Data Analysis  |  Abhishek Paul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 in detail</a:t>
            </a:r>
            <a:endParaRPr lang="en-US" sz="2500" dirty="0"/>
          </a:p>
        </p:txBody>
      </p:sp>
      <p:pic>
        <p:nvPicPr>
          <p:cNvPr id="4" name="Image 0" descr="chart_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5120640" cy="3959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1280160"/>
            <a:ext cx="553212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81928" y="153619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6464808" y="14173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baseline: R² = 0.31 — captures the broad linear trend but misses non-linear interactions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81928" y="245059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6464808" y="23317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(tuned via GridSearchCV): R² = 0.46 — large jump from baseline by capturing region/disease interactions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81928" y="336499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6464808" y="32461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(tuned via RandomizedSearchCV): R² = 0.49 — best performer, selected as final model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81928" y="427939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6464808" y="41605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and MAE were tracked alongside R² since they express error in the same units as incidence rate — directly useful for planning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Data Analysis  |  Abhishek Paul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</a:t>
            </a:r>
            <a:endParaRPr lang="en-US" sz="2500" dirty="0"/>
          </a:p>
        </p:txBody>
      </p:sp>
      <p:pic>
        <p:nvPicPr>
          <p:cNvPr id="4" name="Image 0" descr="chart_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188720"/>
            <a:ext cx="6400800" cy="4105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and year dominate the model's predictions — confirming both vaccination effort and long-term public health progress are the strongest drivers of incidence, with disease- and region-specific effects contributing secondary explanatory power.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Data Analysis  |  Abhishek Paul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database schema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star-schema: 5 dimension tables + 5 fact tables, built and populated in SQLite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dim_country (214 rows)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dim_disease (13 rows)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dim_vaccine (68 rows)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114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dim_coverage_category (5 rows)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709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dim_target_population (10 rows)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64592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2331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fact_coverage (381,041 rows)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2926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fact_incidence (84,945 rows)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3520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fact_reported_cases (84,869 rows)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4114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fact_vaccine_introduction (138,320 rows)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4709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fact_vaccine_schedule (8,052 rows)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Data Analysis  |  Abhishek Paul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analytical queries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ready-to-run queries answering the brief's core questions, executed in DB Browser for SQLite</a:t>
            </a:r>
            <a:endParaRPr lang="en-US" sz="1250" dirty="0"/>
          </a:p>
        </p:txBody>
      </p:sp>
      <p:pic>
        <p:nvPicPr>
          <p:cNvPr id="5" name="Image 0" descr="sql_query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676656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600200"/>
            <a:ext cx="4114800" cy="416052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44968" y="185623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7927848" y="1737360"/>
            <a:ext cx="3520440" cy="5421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vs incidence by country-year (8,973 rows)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44968" y="2398341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7927848" y="2279469"/>
            <a:ext cx="3520440" cy="5421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High-incidence regions despite good coverage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44968" y="2940449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7927848" y="2821577"/>
            <a:ext cx="3520440" cy="5421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coverage % by vaccine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744968" y="3482558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1"/>
          <p:cNvSpPr/>
          <p:nvPr/>
        </p:nvSpPr>
        <p:spPr>
          <a:xfrm>
            <a:off x="7927848" y="3363686"/>
            <a:ext cx="3520440" cy="5421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before vs after vaccine introduction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44968" y="4024666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3"/>
          <p:cNvSpPr/>
          <p:nvPr/>
        </p:nvSpPr>
        <p:spPr>
          <a:xfrm>
            <a:off x="7927848" y="3905794"/>
            <a:ext cx="3520440" cy="5421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with largest case reduction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744968" y="4566775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5"/>
          <p:cNvSpPr/>
          <p:nvPr/>
        </p:nvSpPr>
        <p:spPr>
          <a:xfrm>
            <a:off x="7927848" y="4447903"/>
            <a:ext cx="3520440" cy="5421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drop-off by vaccine and schedule round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744968" y="5108883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7"/>
          <p:cNvSpPr/>
          <p:nvPr/>
        </p:nvSpPr>
        <p:spPr>
          <a:xfrm>
            <a:off x="7927848" y="4990011"/>
            <a:ext cx="3520440" cy="5421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below 95% measles coverage target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Data Analysis  |  Abhishek Paul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Global Overview</a:t>
            </a:r>
            <a:endParaRPr lang="en-US" sz="2500" dirty="0"/>
          </a:p>
        </p:txBody>
      </p:sp>
      <p:pic>
        <p:nvPicPr>
          <p:cNvPr id="4" name="Image 0" descr="global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11064240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Data Analysis  |  Abhishek Paul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Regional &amp; Disease Comparison</a:t>
            </a:r>
            <a:endParaRPr lang="en-US" sz="2500" dirty="0"/>
          </a:p>
        </p:txBody>
      </p:sp>
      <p:pic>
        <p:nvPicPr>
          <p:cNvPr id="4" name="Image 0" descr="regional_dise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11064240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Data Analysis  |  Abhishek Paul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Vaccine Introduction &amp; Schedule</a:t>
            </a:r>
            <a:endParaRPr lang="en-US" sz="2500" dirty="0"/>
          </a:p>
        </p:txBody>
      </p:sp>
      <p:pic>
        <p:nvPicPr>
          <p:cNvPr id="4" name="Image 0" descr="vaccine_int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5486400" cy="3291840"/>
          </a:xfrm>
          <a:prstGeom prst="rect">
            <a:avLst/>
          </a:prstGeom>
        </p:spPr>
      </p:pic>
      <p:pic>
        <p:nvPicPr>
          <p:cNvPr id="5" name="Image 1" descr="dose_dropof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188720"/>
            <a:ext cx="5486400" cy="32918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61772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countries that have introduced each vaccine. Right: dose drop-off between schedule rounds (e.g. BCG drops from 188 countries at round 1 to just 1 by round 3).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Data Analysis  |  Abhishek Paul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Country Deep-Dive</a:t>
            </a:r>
            <a:endParaRPr lang="en-US" sz="2500" dirty="0"/>
          </a:p>
        </p:txBody>
      </p:sp>
      <p:pic>
        <p:nvPicPr>
          <p:cNvPr id="4" name="Image 0" descr="country_deepd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11064240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Data Analysis  |  Abhishek Paul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1A245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73152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4475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vaccination coverage is significantly associated with lower disease incidence — confirmed across all 3 hypothesis tests.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59152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1A245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59152"/>
            <a:ext cx="73152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32304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AFRO shows both the lowest coverage and the highest incidence of any WHO region — the clearest, most actionable regional gap.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46704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1A2450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346704"/>
            <a:ext cx="73152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19856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Measles and typhoid have the highest average incidence globally, despite decent overall vaccination coverage.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334256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1A2450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334256"/>
            <a:ext cx="73152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4074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drop-off is steep for several vaccines (e.g. BCG: 188 → 1 country between round 1 and round 3), pointing to schedule-completion gaps.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321808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1A2450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5321808"/>
            <a:ext cx="73152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394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Gradient Boosting model predicts incidence rate with R² ≈ 0.49 — real signal, but incidence also depends on factors beyond coverage alone.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Data Analysis  |  Abhishek Paul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82296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270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AFRO for resource allocation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coverage and highest incidence — the single clearest target for new investment and campaigns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06040"/>
            <a:ext cx="82296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157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measles and typhoid control gaps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108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incidence despite reasonable coverage suggests effectiveness, reporting, or outbreak-response issues beyond just dose counts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94760"/>
            <a:ext cx="82296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044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dose-completion, not just first-dose access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297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drop-off between schedule rounds (e.g. BCG) means completing series matters as much as initial reach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983480"/>
            <a:ext cx="82296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0932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predictive model as an early-warning flag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0.49 model can highlight rising-risk country-disease pairs before incidence spikes, feeding into the Power BI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Data Analysis  |  Abhishek Paul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1907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600200"/>
            <a:ext cx="4754880" cy="131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0.49 means roughly half of incidence variation is unexplained — reporting quality, outbreak dynamics, and health infrastructure aren't captured in this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9808" y="30297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910840"/>
            <a:ext cx="4754880" cy="131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schedule data only covers 2019-2023, limiting historical drop-off analysis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" y="434035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4221480"/>
            <a:ext cx="4754880" cy="131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Country-disease coverage matching relies on a manually built antigen-to-disease map, which may miss edge cases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463040"/>
            <a:ext cx="553212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1928" y="171907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64808" y="1600200"/>
            <a:ext cx="4937760" cy="982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socioeconomic and health-infrastructure indicators (GDP, health spending, doctor density) as additional model features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81928" y="270205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64808" y="2583180"/>
            <a:ext cx="4937760" cy="982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SQL database with live refresh from the WHO API for up-to-date dashboards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81928" y="368503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64808" y="3566160"/>
            <a:ext cx="4937760" cy="982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classification model to flag high-risk country-disease pairs directly, rather than only a continuous incidence prediction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81928" y="466801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08" y="4549140"/>
            <a:ext cx="4937760" cy="982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out drill-through and RLS (row-level security) in Power BI for region-specific stakeholder access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Data Analysis  |  Abhishek Paul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0"/>
            <a:ext cx="12188952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6868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Vaccination Data Analysis  ·  Abhishek Paul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notebook  ·  SQL database  ·  Power BI dashboard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2026-07-09T22:32:39Z</dcterms:created>
  <dcterms:modified xsi:type="dcterms:W3CDTF">2026-07-09T22:32:39Z</dcterms:modified>
</cp:coreProperties>
</file>